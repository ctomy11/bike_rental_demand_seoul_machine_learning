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0" r:id="rId2"/>
    <p:sldId id="257" r:id="rId3"/>
    <p:sldId id="261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84"/>
    <p:restoredTop sz="94748"/>
  </p:normalViewPr>
  <p:slideViewPr>
    <p:cSldViewPr snapToGrid="0">
      <p:cViewPr varScale="1">
        <p:scale>
          <a:sx n="69" d="100"/>
          <a:sy n="69" d="100"/>
        </p:scale>
        <p:origin x="216" y="1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BEB83-4469-74C7-31B3-2BD6475F8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Classification of bike sharing demand in Seoul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EE0DF-6E8E-C39E-38D6-EB0841785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Bike sharing systems are a key component of sustainable urban transport</a:t>
            </a:r>
          </a:p>
          <a:p>
            <a:r>
              <a:rPr lang="en-US" dirty="0"/>
              <a:t>Accurate comprehension of demand patterns is necessary for efficient operation</a:t>
            </a:r>
          </a:p>
          <a:p>
            <a:r>
              <a:rPr lang="en-US" dirty="0"/>
              <a:t>Over or under supply leads to increased operational costs and reduced user satisfaction </a:t>
            </a:r>
          </a:p>
          <a:p>
            <a:r>
              <a:rPr lang="en-US" dirty="0"/>
              <a:t>Bike usage is heavily influenced by the weather, time of day, and season.</a:t>
            </a:r>
          </a:p>
          <a:p>
            <a:r>
              <a:rPr lang="en-US" dirty="0"/>
              <a:t>Machine learning offers flexible tools for demand modelling beyond traditional regression </a:t>
            </a:r>
          </a:p>
        </p:txBody>
      </p:sp>
    </p:spTree>
    <p:extLst>
      <p:ext uri="{BB962C8B-B14F-4D97-AF65-F5344CB8AC3E}">
        <p14:creationId xmlns:p14="http://schemas.microsoft.com/office/powerpoint/2010/main" val="196471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5C277-5C22-FD75-B550-CC1B20909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976B9-9534-B9B7-1442-48F94B25B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hourly bike rental demand in Seoul be accurately classified into multiple demand levels?</a:t>
            </a:r>
          </a:p>
          <a:p>
            <a:r>
              <a:rPr lang="en-US" dirty="0"/>
              <a:t>Which classification models provide the best predictive performance?</a:t>
            </a:r>
          </a:p>
          <a:p>
            <a:r>
              <a:rPr lang="en-US" dirty="0"/>
              <a:t>How does model complexity affect accuracy and interpretability?</a:t>
            </a:r>
          </a:p>
          <a:p>
            <a:r>
              <a:rPr lang="en-US" dirty="0"/>
              <a:t>Is there a trade-off between classical and statistical models and modern machine learning approaches?</a:t>
            </a:r>
          </a:p>
        </p:txBody>
      </p:sp>
    </p:spTree>
    <p:extLst>
      <p:ext uri="{BB962C8B-B14F-4D97-AF65-F5344CB8AC3E}">
        <p14:creationId xmlns:p14="http://schemas.microsoft.com/office/powerpoint/2010/main" val="138343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A9254-FB39-4A32-E8C0-CB03108E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Description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70BB3-78EB-6EF2-FF91-C2D6B2FEA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3933298"/>
          </a:xfrm>
        </p:spPr>
        <p:txBody>
          <a:bodyPr>
            <a:normAutofit/>
          </a:bodyPr>
          <a:lstStyle/>
          <a:p>
            <a:r>
              <a:rPr lang="en-US" dirty="0"/>
              <a:t>Seoul bike sharing demand dataset</a:t>
            </a:r>
          </a:p>
          <a:p>
            <a:r>
              <a:rPr lang="en-GB" dirty="0"/>
              <a:t>~8,700 hourly observations </a:t>
            </a:r>
          </a:p>
          <a:p>
            <a:r>
              <a:rPr lang="en-GB" dirty="0"/>
              <a:t>Weather variables: temperature, humidity, wind speed, rainfall, snowfall</a:t>
            </a:r>
          </a:p>
          <a:p>
            <a:r>
              <a:rPr lang="en-GB" dirty="0"/>
              <a:t>Temporal and calendar variables: hour, season, holiday, functioning day</a:t>
            </a:r>
          </a:p>
          <a:p>
            <a:r>
              <a:rPr lang="en-GB" dirty="0"/>
              <a:t>Target variable constructed as:</a:t>
            </a:r>
          </a:p>
          <a:p>
            <a:pPr lvl="1"/>
            <a:r>
              <a:rPr lang="en-GB" dirty="0"/>
              <a:t>Low demand</a:t>
            </a:r>
          </a:p>
          <a:p>
            <a:pPr lvl="1"/>
            <a:r>
              <a:rPr lang="en-GB" dirty="0"/>
              <a:t>Medium demand </a:t>
            </a:r>
          </a:p>
          <a:p>
            <a:pPr lvl="1"/>
            <a:r>
              <a:rPr lang="en-GB" dirty="0"/>
              <a:t>High demand </a:t>
            </a:r>
          </a:p>
        </p:txBody>
      </p:sp>
    </p:spTree>
    <p:extLst>
      <p:ext uri="{BB962C8B-B14F-4D97-AF65-F5344CB8AC3E}">
        <p14:creationId xmlns:p14="http://schemas.microsoft.com/office/powerpoint/2010/main" val="2234439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371AC-FEA7-EDBD-775A-5D86FE3C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E0EB7-7CE7-990D-979A-AF4C8AC81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Multiclass classification framework</a:t>
            </a:r>
          </a:p>
          <a:p>
            <a:r>
              <a:rPr lang="en-US" dirty="0"/>
              <a:t>Stratified train/test split (70/30)</a:t>
            </a:r>
          </a:p>
          <a:p>
            <a:r>
              <a:rPr lang="en-US" dirty="0"/>
              <a:t>Feature scaling applied where required</a:t>
            </a:r>
          </a:p>
          <a:p>
            <a:r>
              <a:rPr lang="en-US" dirty="0"/>
              <a:t>Models implemented:</a:t>
            </a:r>
          </a:p>
          <a:p>
            <a:pPr lvl="1"/>
            <a:r>
              <a:rPr lang="en-US" dirty="0"/>
              <a:t>Multinomial </a:t>
            </a:r>
            <a:r>
              <a:rPr lang="en-US" dirty="0" err="1"/>
              <a:t>Generalised</a:t>
            </a:r>
            <a:r>
              <a:rPr lang="en-US" dirty="0"/>
              <a:t> Linear Model (baseline, interpretable)</a:t>
            </a:r>
          </a:p>
          <a:p>
            <a:pPr lvl="1"/>
            <a:r>
              <a:rPr lang="en-US" dirty="0"/>
              <a:t>Random forest (ensemble-based, nonlinear)</a:t>
            </a:r>
          </a:p>
          <a:p>
            <a:pPr lvl="1"/>
            <a:r>
              <a:rPr lang="en-US" dirty="0"/>
              <a:t>Neural network (deep learning approach)</a:t>
            </a:r>
          </a:p>
          <a:p>
            <a:r>
              <a:rPr lang="en-US" dirty="0"/>
              <a:t>Performance evaluated using accuracy confusion matrices</a:t>
            </a:r>
          </a:p>
        </p:txBody>
      </p:sp>
    </p:spTree>
    <p:extLst>
      <p:ext uri="{BB962C8B-B14F-4D97-AF65-F5344CB8AC3E}">
        <p14:creationId xmlns:p14="http://schemas.microsoft.com/office/powerpoint/2010/main" val="3594769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7F84A-99DC-ADF2-F63F-20D322FA0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47681-C99B-BA77-AD54-805F03C5A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Random forest achieved the highest accuracy </a:t>
            </a:r>
          </a:p>
          <a:p>
            <a:r>
              <a:rPr lang="en-US" dirty="0"/>
              <a:t>Neural network improved over GLM but did not outperform random forest</a:t>
            </a:r>
          </a:p>
          <a:p>
            <a:r>
              <a:rPr lang="en-US" dirty="0"/>
              <a:t>GLM offered greatest interpretability but lowest accuracy</a:t>
            </a:r>
          </a:p>
          <a:p>
            <a:r>
              <a:rPr lang="en-US" dirty="0"/>
              <a:t>Temporal variables were the strongest predictors </a:t>
            </a:r>
          </a:p>
          <a:p>
            <a:r>
              <a:rPr lang="en-US" dirty="0"/>
              <a:t>Clear trade-off between interpretability and predictive performance </a:t>
            </a:r>
          </a:p>
          <a:p>
            <a:r>
              <a:rPr lang="en-US" dirty="0"/>
              <a:t>Multiclass classification provides operationally meaningful insights for bike sharing systems </a:t>
            </a:r>
          </a:p>
        </p:txBody>
      </p:sp>
    </p:spTree>
    <p:extLst>
      <p:ext uri="{BB962C8B-B14F-4D97-AF65-F5344CB8AC3E}">
        <p14:creationId xmlns:p14="http://schemas.microsoft.com/office/powerpoint/2010/main" val="326494308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52</TotalTime>
  <Words>266</Words>
  <Application>Microsoft Macintosh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Trebuchet MS</vt:lpstr>
      <vt:lpstr>Berlin</vt:lpstr>
      <vt:lpstr>Multiclass Classification of bike sharing demand in Seoul</vt:lpstr>
      <vt:lpstr>Research Objectives</vt:lpstr>
      <vt:lpstr>Data Description </vt:lpstr>
      <vt:lpstr>Methodology</vt:lpstr>
      <vt:lpstr>Results and 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 Tomy</dc:creator>
  <cp:lastModifiedBy>Christo Tomy</cp:lastModifiedBy>
  <cp:revision>2</cp:revision>
  <dcterms:created xsi:type="dcterms:W3CDTF">2025-12-18T15:55:28Z</dcterms:created>
  <dcterms:modified xsi:type="dcterms:W3CDTF">2025-12-18T16:47:35Z</dcterms:modified>
</cp:coreProperties>
</file>